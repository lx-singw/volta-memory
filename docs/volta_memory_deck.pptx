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VOLTA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8869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8FAFC"/>
                </a:solidFill>
              </a:defRPr>
            </a:pPr>
            <a:r>
              <a:t>Persistent AI memory</a:t>
            </a:r>
            <a:br/>
            <a:r>
              <a:t>that can prove what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033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A3B8D1"/>
                </a:solidFill>
              </a:defRPr>
            </a:pPr>
            <a:r>
              <a:t>A Qwen-powered energy advisor that stores source-linked facts, retains an accountable correction history, and selects only current context for advice.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66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Evidence, not assumptions.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3B8D1"/>
                </a:solidFill>
              </a:defRPr>
            </a:pPr>
            <a:r>
              <a:t>Track 1: MemoryAgent  |  Qwen Cloud Global AI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MEMORY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Volta keeps the useful fact and preserves the reason it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3B8D1"/>
                </a:solidFill>
              </a:defRPr>
            </a:pPr>
            <a:r>
              <a:t>Track 1: MemoryAgent  |  Qwen Cloud Global AI Hackathon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1508760"/>
          </a:xfrm>
          <a:prstGeom prst="roundRect">
            <a:avLst/>
          </a:prstGeom>
          <a:solidFill>
            <a:srgbClr val="0D2138"/>
          </a:solidFill>
          <a:ln>
            <a:solidFill>
              <a:srgbClr val="12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1. 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3B8D1"/>
                </a:solidFill>
              </a:defRPr>
            </a:pPr>
            <a:r>
              <a:t>Qwen structures an observation at session end and records its supporting turn.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1508760"/>
          </a:xfrm>
          <a:prstGeom prst="roundRect">
            <a:avLst/>
          </a:prstGeom>
          <a:solidFill>
            <a:srgbClr val="0D2138"/>
          </a:solidFill>
          <a:ln>
            <a:solidFill>
              <a:srgbClr val="12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2.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6771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3B8D1"/>
                </a:solidFill>
              </a:defRPr>
            </a:pPr>
            <a:r>
              <a:t>Only a quote matched to a real user message is presented as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291840" cy="1508760"/>
          </a:xfrm>
          <a:prstGeom prst="roundRect">
            <a:avLst/>
          </a:prstGeom>
          <a:solidFill>
            <a:srgbClr val="0D2138"/>
          </a:solidFill>
          <a:ln>
            <a:solidFill>
              <a:srgbClr val="12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874519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3. Revise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26771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3B8D1"/>
                </a:solidFill>
              </a:defRPr>
            </a:pPr>
            <a:r>
              <a:t>A correction supersedes the old fact without deleting its audit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3291840" cy="1508760"/>
          </a:xfrm>
          <a:prstGeom prst="roundRect">
            <a:avLst/>
          </a:prstGeom>
          <a:solidFill>
            <a:srgbClr val="0D2138"/>
          </a:solidFill>
          <a:ln>
            <a:solidFill>
              <a:srgbClr val="12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862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4. 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7939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3B8D1"/>
                </a:solidFill>
              </a:defRPr>
            </a:pPr>
            <a:r>
              <a:t>Current, high-value facts are packed to a limited context budget.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657600"/>
            <a:ext cx="3291840" cy="1508760"/>
          </a:xfrm>
          <a:prstGeom prst="roundRect">
            <a:avLst/>
          </a:prstGeom>
          <a:solidFill>
            <a:srgbClr val="0D2138"/>
          </a:solidFill>
          <a:ln>
            <a:solidFill>
              <a:srgbClr val="12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8862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5. 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27939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3B8D1"/>
                </a:solidFill>
              </a:defRPr>
            </a:pPr>
            <a:r>
              <a:t>Every answer distinguishes used evidence from retained or excluded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JUDGE PROOF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One correction should be visible from user message to final recommendation.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3B8D1"/>
                </a:solidFill>
              </a:defRPr>
            </a:pPr>
            <a:r>
              <a:t>Track 1: MemoryAgent  |  Qwen Cloud Global AI Hackathon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069080"/>
          </a:xfrm>
          <a:prstGeom prst="roundRect">
            <a:avLst/>
          </a:prstGeom>
          <a:solidFill>
            <a:srgbClr val="0D2138"/>
          </a:solidFill>
          <a:ln>
            <a:solidFill>
              <a:srgbClr val="12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554480"/>
            <a:ext cx="3291840" cy="4069080"/>
          </a:xfrm>
          <a:prstGeom prst="roundRect">
            <a:avLst/>
          </a:prstGeom>
          <a:solidFill>
            <a:srgbClr val="0D2138"/>
          </a:solidFill>
          <a:ln>
            <a:solidFill>
              <a:srgbClr val="12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554480"/>
            <a:ext cx="3291840" cy="4069080"/>
          </a:xfrm>
          <a:prstGeom prst="roundRect">
            <a:avLst/>
          </a:prstGeom>
          <a:solidFill>
            <a:srgbClr val="0D2138"/>
          </a:solidFill>
          <a:ln>
            <a:solidFill>
              <a:srgbClr val="12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BBF24"/>
                </a:solidFill>
              </a:defRPr>
            </a:pPr>
            <a:r>
              <a:t>1.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2697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</a:defRPr>
            </a:pPr>
            <a:r>
              <a:t>“My bill is about R3,200, but keeping the lights on is what matters.”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BBF24"/>
                </a:solidFill>
              </a:defRPr>
            </a:pPr>
            <a:r>
              <a:t>2. 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68880"/>
            <a:ext cx="2697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</a:defRPr>
            </a:pPr>
            <a:r>
              <a:t>“Actually, the bill is R3,800.”</a:t>
            </a:r>
            <a:br/>
            <a:br/>
            <a:r>
              <a:t>Receipt: R3,200 → R3,800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BBF24"/>
                </a:solidFill>
              </a:defRPr>
            </a:pPr>
            <a:r>
              <a:t>3. 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468880"/>
            <a:ext cx="2697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AFC"/>
                </a:solidFill>
              </a:defRPr>
            </a:pPr>
            <a:r>
              <a:t>The Memory Map shows the active R3,800 fact, its source turn, and the retained R3,200 predecessor.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D3EE"/>
                </a:solidFill>
              </a:defRPr>
            </a:pPr>
            <a:r>
              <a:t>The recommendation must use R3,800 and identify R3,200 as superseded—not merely absent.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MEASURED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The benchmark reports the full comparison, not only Volta's strongest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3B8D1"/>
                </a:solidFill>
              </a:defRPr>
            </a:pPr>
            <a:r>
              <a:t>Track 1: MemoryAgent  |  Qwen Cloud Global AI Hackathon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89153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325880"/>
                <a:gridCol w="1417320"/>
                <a:gridCol w="1417320"/>
                <a:gridCol w="1325880"/>
                <a:gridCol w="155448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CORRECTION</a:t>
                      </a:r>
                    </a:p>
                  </a:txBody>
                  <a:tcPr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FORGETTING</a:t>
                      </a:r>
                    </a:p>
                  </a:txBody>
                  <a:tcPr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122C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RUNS</a:t>
                      </a:r>
                    </a:p>
                  </a:txBody>
                  <a:tcPr>
                    <a:solidFill>
                      <a:srgbClr val="122C4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A_no_memory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15.2% (10/66)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0.0% (0/6)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83.3% (20/24)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37.0% (30/81)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B_full_context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100.0% (66/66)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0.0% (0/6)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25.0% (6/24)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86.4% (70/81)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C_naive_rag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90.9% (60/66)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0.0% (0/6)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16.7% (4/24)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76.5% (62/81)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A3B8D1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040E1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D_volta_memory</a:t>
                      </a:r>
                    </a:p>
                  </a:txBody>
                  <a:tcPr>
                    <a:solidFill>
                      <a:srgbClr val="0D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84.8% (56/66)</a:t>
                      </a:r>
                    </a:p>
                  </a:txBody>
                  <a:tcPr>
                    <a:solidFill>
                      <a:srgbClr val="0D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50.0% (3/6)</a:t>
                      </a:r>
                    </a:p>
                  </a:txBody>
                  <a:tcPr>
                    <a:solidFill>
                      <a:srgbClr val="0D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75.0% (18/24)</a:t>
                      </a:r>
                    </a:p>
                  </a:txBody>
                  <a:tcPr>
                    <a:solidFill>
                      <a:srgbClr val="0D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84.0% (68/81)</a:t>
                      </a:r>
                    </a:p>
                  </a:txBody>
                  <a:tcPr>
                    <a:solidFill>
                      <a:srgbClr val="0D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0D213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303520"/>
            <a:ext cx="10744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3B8D1"/>
                </a:solidFill>
              </a:defRPr>
            </a:pPr>
            <a:r>
              <a:t>Run 6a51d3eb-a02c-4511-9ace-f8586a431164 · 132/132 successful cases · Qwen model qwen-max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744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2D3EE"/>
                </a:solidFill>
              </a:defRPr>
            </a:pPr>
            <a:r>
              <a:t>Read correction, forgetting, recall, latency, and cost together; no single metric is presented as a universal win.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ALIBABA CLOUD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Static UI, protected API edge, serverless memory engine.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3B8D1"/>
                </a:solidFill>
              </a:defRPr>
            </a:pPr>
            <a:r>
              <a:t>Track 1: MemoryAgent  |  Qwen Cloud Global AI Hackathon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057400" cy="1691640"/>
          </a:xfrm>
          <a:prstGeom prst="roundRect">
            <a:avLst/>
          </a:prstGeom>
          <a:solidFill>
            <a:srgbClr val="0D2138"/>
          </a:solidFill>
          <a:ln>
            <a:solidFill>
              <a:srgbClr val="12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305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OSS + CDN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8775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</a:defRPr>
            </a:pPr>
            <a:r>
              <a:t>Static Next.js export</a:t>
            </a:r>
            <a:br/>
            <a:r>
              <a:t>Runtime API 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874519"/>
            <a:ext cx="2057400" cy="1691640"/>
          </a:xfrm>
          <a:prstGeom prst="roundRect">
            <a:avLst/>
          </a:prstGeom>
          <a:solidFill>
            <a:srgbClr val="0D2138"/>
          </a:solidFill>
          <a:ln>
            <a:solidFill>
              <a:srgbClr val="12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21305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BF24"/>
                </a:solidFill>
              </a:defRPr>
            </a:pPr>
            <a:r>
              <a:t>API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258775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</a:defRPr>
            </a:pPr>
            <a:r>
              <a:t>CORS allowlist</a:t>
            </a:r>
            <a:br/>
            <a:r>
              <a:t>Rate &amp; concurrency limits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874519"/>
            <a:ext cx="2057400" cy="1691640"/>
          </a:xfrm>
          <a:prstGeom prst="roundRect">
            <a:avLst/>
          </a:prstGeom>
          <a:solidFill>
            <a:srgbClr val="0D2138"/>
          </a:solidFill>
          <a:ln>
            <a:solidFill>
              <a:srgbClr val="12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1" y="21305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Function Compute 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1" y="258775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</a:defRPr>
            </a:pPr>
            <a:r>
              <a:t>FastAPI</a:t>
            </a:r>
            <a:br/>
            <a:r>
              <a:t>Qwen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74519"/>
            <a:ext cx="2057400" cy="1691640"/>
          </a:xfrm>
          <a:prstGeom prst="roundRect">
            <a:avLst/>
          </a:prstGeom>
          <a:solidFill>
            <a:srgbClr val="0D2138"/>
          </a:solidFill>
          <a:ln>
            <a:solidFill>
              <a:srgbClr val="12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21305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D3EE"/>
                </a:solidFill>
              </a:defRPr>
            </a:pPr>
            <a:r>
              <a:t>RDS PostgreSQL + pgvector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58775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</a:defRPr>
            </a:pPr>
            <a:r>
              <a:t>Memory lifecycle</a:t>
            </a:r>
            <a:br/>
            <a:r>
              <a:t>Evidence and relations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4348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</a:defRPr>
            </a:pPr>
            <a:r>
              <a:t>Qwen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8463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3B8D1"/>
                </a:solidFill>
              </a:defRPr>
            </a:pPr>
            <a:r>
              <a:t>Generation · extraction · relationship classification · 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D3EE"/>
                </a:solidFill>
              </a:defRPr>
            </a:pPr>
            <a:r>
              <a:t>SLS captures operational telemetry; a least-privilege RAM role accesses only required cloud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THE MEMORY AGENT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</a:defRPr>
            </a:pPr>
            <a:r>
              <a:t>Can the agent show why its recommendation is still true?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1752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A3B8D1"/>
                </a:solidFill>
              </a:defRPr>
            </a:pPr>
            <a:r>
              <a:t>Volta answers with source-linked, current evidence—and keeps the previous fact only for accountability.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091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Live app: Configured at release via runtime-config.js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5780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3B8D1"/>
                </a:solidFill>
              </a:defRPr>
            </a:pPr>
            <a:r>
              <a:t>Repository · benchmark artifact · architecture · public demo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636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3B8D1"/>
                </a:solidFill>
              </a:defRPr>
            </a:pPr>
            <a:r>
              <a:t>Volta Memory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